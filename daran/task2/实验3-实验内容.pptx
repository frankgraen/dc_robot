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542" r:id="rId3"/>
    <p:sldId id="543" r:id="rId5"/>
    <p:sldId id="545" r:id="rId6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E96"/>
    <a:srgbClr val="729273"/>
    <a:srgbClr val="003F88"/>
    <a:srgbClr val="8994BD"/>
    <a:srgbClr val="96A2D0"/>
    <a:srgbClr val="93BFF5"/>
    <a:srgbClr val="E6E6E6"/>
    <a:srgbClr val="3A6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084" autoAdjust="0"/>
    <p:restoredTop sz="94660"/>
  </p:normalViewPr>
  <p:slideViewPr>
    <p:cSldViewPr snapToGrid="0">
      <p:cViewPr>
        <p:scale>
          <a:sx n="100" d="100"/>
          <a:sy n="100" d="100"/>
        </p:scale>
        <p:origin x="58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2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9EBC71-470F-4178-8939-B7F43C998C3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7F53EF-5364-44E3-BFA2-84231755F7E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pPr algn="l"/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pc="300" dirty="0">
              <a:solidFill>
                <a:srgbClr val="003F88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CBCBD-A104-4017-AE22-E7414AF54D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pc="300" dirty="0">
              <a:solidFill>
                <a:srgbClr val="003F88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4CBCBD-A104-4017-AE22-E7414AF54D3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AC1865-B79A-43E4-B218-34456B6B12C9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E32C2-5FDC-40E1-AD53-545CC803DDC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tags" Target="../tags/tag1.xml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microsoft.com/office/2007/relationships/hdphoto" Target="../media/image9.wdp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2514600"/>
          </a:xfrm>
          <a:prstGeom prst="rect">
            <a:avLst/>
          </a:prstGeom>
          <a:solidFill>
            <a:srgbClr val="003F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菱形 3"/>
          <p:cNvSpPr/>
          <p:nvPr/>
        </p:nvSpPr>
        <p:spPr>
          <a:xfrm>
            <a:off x="4838700" y="1257130"/>
            <a:ext cx="2514600" cy="2514600"/>
          </a:xfrm>
          <a:prstGeom prst="diamond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5016246" y="1434676"/>
            <a:ext cx="2159508" cy="2159508"/>
            <a:chOff x="5016246" y="2239518"/>
            <a:chExt cx="2159508" cy="2159508"/>
          </a:xfrm>
          <a:solidFill>
            <a:srgbClr val="003F88"/>
          </a:solidFill>
        </p:grpSpPr>
        <p:sp>
          <p:nvSpPr>
            <p:cNvPr id="5" name="菱形 4"/>
            <p:cNvSpPr/>
            <p:nvPr/>
          </p:nvSpPr>
          <p:spPr>
            <a:xfrm>
              <a:off x="5016246" y="2239518"/>
              <a:ext cx="2159508" cy="2159508"/>
            </a:xfrm>
            <a:prstGeom prst="diamond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: 形状 11"/>
            <p:cNvSpPr/>
            <p:nvPr/>
          </p:nvSpPr>
          <p:spPr>
            <a:xfrm flipV="1">
              <a:off x="5016246" y="3319272"/>
              <a:ext cx="2159508" cy="1079754"/>
            </a:xfrm>
            <a:custGeom>
              <a:avLst/>
              <a:gdLst>
                <a:gd name="connsiteX0" fmla="*/ 720000 w 1440000"/>
                <a:gd name="connsiteY0" fmla="*/ 0 h 720000"/>
                <a:gd name="connsiteX1" fmla="*/ 1440000 w 1440000"/>
                <a:gd name="connsiteY1" fmla="*/ 720000 h 720000"/>
                <a:gd name="connsiteX2" fmla="*/ 0 w 1440000"/>
                <a:gd name="connsiteY2" fmla="*/ 720000 h 720000"/>
                <a:gd name="connsiteX3" fmla="*/ 720000 w 1440000"/>
                <a:gd name="connsiteY3" fmla="*/ 0 h 72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40000" h="720000">
                  <a:moveTo>
                    <a:pt x="720000" y="0"/>
                  </a:moveTo>
                  <a:cubicBezTo>
                    <a:pt x="1117645" y="0"/>
                    <a:pt x="1440000" y="322355"/>
                    <a:pt x="1440000" y="720000"/>
                  </a:cubicBezTo>
                  <a:lnTo>
                    <a:pt x="0" y="720000"/>
                  </a:lnTo>
                  <a:cubicBezTo>
                    <a:pt x="0" y="322355"/>
                    <a:pt x="322355" y="0"/>
                    <a:pt x="720000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框 12"/>
          <p:cNvSpPr txBox="1"/>
          <p:nvPr/>
        </p:nvSpPr>
        <p:spPr>
          <a:xfrm>
            <a:off x="4980432" y="2030426"/>
            <a:ext cx="2231136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anose="02040503050406030204" pitchFamily="18" charset="0"/>
                <a:ea typeface="Cambria" panose="02040503050406030204" pitchFamily="18" charset="0"/>
              </a:rPr>
              <a:t>03</a:t>
            </a:r>
            <a:endParaRPr lang="zh-CN" altLang="en-US" sz="8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anose="02040503050406030204" pitchFamily="18" charset="0"/>
            </a:endParaRPr>
          </a:p>
        </p:txBody>
      </p:sp>
      <p:cxnSp>
        <p:nvCxnSpPr>
          <p:cNvPr id="17" name="直接箭头连接符 16"/>
          <p:cNvCxnSpPr>
            <a:stCxn id="2" idx="1"/>
            <a:endCxn id="2" idx="3"/>
          </p:cNvCxnSpPr>
          <p:nvPr/>
        </p:nvCxnSpPr>
        <p:spPr>
          <a:xfrm>
            <a:off x="0" y="1257300"/>
            <a:ext cx="12192000" cy="0"/>
          </a:xfrm>
          <a:prstGeom prst="straightConnector1">
            <a:avLst/>
          </a:prstGeom>
          <a:ln w="57150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1" name="组合 20"/>
          <p:cNvGrpSpPr/>
          <p:nvPr/>
        </p:nvGrpSpPr>
        <p:grpSpPr>
          <a:xfrm>
            <a:off x="-55241" y="5102845"/>
            <a:ext cx="12478977" cy="1955678"/>
            <a:chOff x="0" y="5107371"/>
            <a:chExt cx="12452726" cy="1958184"/>
          </a:xfrm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1" cstate="print">
              <a:clrChange>
                <a:clrFrom>
                  <a:srgbClr val="DA8276"/>
                </a:clrFrom>
                <a:clrTo>
                  <a:srgbClr val="DA8276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81492" y="5294438"/>
              <a:ext cx="2771234" cy="1582057"/>
            </a:xfrm>
            <a:prstGeom prst="rect">
              <a:avLst/>
            </a:prstGeom>
          </p:spPr>
        </p:pic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2" cstate="print">
              <a:clrChange>
                <a:clrFrom>
                  <a:srgbClr val="F7E5C1"/>
                </a:clrFrom>
                <a:clrTo>
                  <a:srgbClr val="F7E5C1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5107371"/>
              <a:ext cx="3570418" cy="1774075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 cstate="print">
              <a:clrChange>
                <a:clrFrom>
                  <a:srgbClr val="E6E8E9"/>
                </a:clrFrom>
                <a:clrTo>
                  <a:srgbClr val="E6E8E9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94374" y="6014537"/>
              <a:ext cx="2801522" cy="866909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 cstate="print">
              <a:clrChange>
                <a:clrFrom>
                  <a:srgbClr val="C9DD76"/>
                </a:clrFrom>
                <a:clrTo>
                  <a:srgbClr val="C9DD76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9219" y="5487733"/>
              <a:ext cx="851371" cy="1393805"/>
            </a:xfrm>
            <a:prstGeom prst="rect">
              <a:avLst/>
            </a:prstGeom>
          </p:spPr>
        </p:pic>
        <p:pic>
          <p:nvPicPr>
            <p:cNvPr id="26" name="图片 25"/>
            <p:cNvPicPr>
              <a:picLocks noChangeAspect="1"/>
            </p:cNvPicPr>
            <p:nvPr/>
          </p:nvPicPr>
          <p:blipFill>
            <a:blip r:embed="rId5" cstate="print">
              <a:clrChange>
                <a:clrFrom>
                  <a:srgbClr val="E2DFEE"/>
                </a:clrFrom>
                <a:clrTo>
                  <a:srgbClr val="E2DFEE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5545" y="5857803"/>
              <a:ext cx="3301589" cy="1023643"/>
            </a:xfrm>
            <a:prstGeom prst="rect">
              <a:avLst/>
            </a:prstGeom>
          </p:spPr>
        </p:pic>
        <p:pic>
          <p:nvPicPr>
            <p:cNvPr id="27" name="图片 26"/>
            <p:cNvPicPr>
              <a:picLocks noChangeAspect="1"/>
            </p:cNvPicPr>
            <p:nvPr/>
          </p:nvPicPr>
          <p:blipFill>
            <a:blip r:embed="rId6" cstate="print">
              <a:clrChange>
                <a:clrFrom>
                  <a:srgbClr val="CA9191"/>
                </a:clrFrom>
                <a:clrTo>
                  <a:srgbClr val="CA9191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5810" y="5563058"/>
              <a:ext cx="2313046" cy="1408570"/>
            </a:xfrm>
            <a:prstGeom prst="rect">
              <a:avLst/>
            </a:prstGeom>
          </p:spPr>
        </p:pic>
        <p:pic>
          <p:nvPicPr>
            <p:cNvPr id="28" name="图片 27"/>
            <p:cNvPicPr>
              <a:picLocks noChangeAspect="1"/>
            </p:cNvPicPr>
            <p:nvPr/>
          </p:nvPicPr>
          <p:blipFill>
            <a:blip r:embed="rId7" cstate="print">
              <a:clrChange>
                <a:clrFrom>
                  <a:srgbClr val="D0E7D6"/>
                </a:clrFrom>
                <a:clrTo>
                  <a:srgbClr val="D0E7D6">
                    <a:alpha val="0"/>
                  </a:srgbClr>
                </a:clrTo>
              </a:clrChange>
              <a:duotone>
                <a:prstClr val="black"/>
                <a:srgbClr val="003E87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55006" y="5382047"/>
              <a:ext cx="1524257" cy="1683508"/>
            </a:xfrm>
            <a:prstGeom prst="rect">
              <a:avLst/>
            </a:prstGeom>
          </p:spPr>
        </p:pic>
      </p:grpSp>
      <p:sp>
        <p:nvSpPr>
          <p:cNvPr id="15" name="文本占位符 9"/>
          <p:cNvSpPr txBox="1"/>
          <p:nvPr/>
        </p:nvSpPr>
        <p:spPr>
          <a:xfrm>
            <a:off x="1730375" y="3967480"/>
            <a:ext cx="8220075" cy="8223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zh-CN"/>
            </a:defPPr>
            <a:lvl1pPr marL="0" indent="0" algn="dist" defTabSz="914400" rtl="0" eaLnBrk="1" latinLnBrk="0" hangingPunct="1">
              <a:buNone/>
              <a:defRPr sz="8000" b="1" kern="12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7200" spc="500" dirty="0">
                <a:solidFill>
                  <a:srgbClr val="003F8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第三次实验课任务</a:t>
            </a:r>
            <a:endParaRPr lang="zh-CN" altLang="en-US" sz="7200" spc="500" dirty="0">
              <a:solidFill>
                <a:srgbClr val="003F8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187112" y="824166"/>
            <a:ext cx="657225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buFont typeface="Wingdings" panose="05000000000000000000" pitchFamily="2" charset="2"/>
              <a:buNone/>
            </a:pPr>
            <a:r>
              <a:rPr lang="zh-CN" sz="2800" b="1" spc="300" dirty="0">
                <a:solidFill>
                  <a:srgbClr val="003F88"/>
                </a:solidFill>
                <a:latin typeface="+mj-ea"/>
                <a:ea typeface="+mj-ea"/>
              </a:rPr>
              <a:t>任务</a:t>
            </a:r>
            <a:r>
              <a:rPr lang="en-US" altLang="zh-CN" sz="2800" b="1" spc="300" dirty="0">
                <a:solidFill>
                  <a:srgbClr val="003F88"/>
                </a:solidFill>
                <a:latin typeface="+mj-ea"/>
                <a:ea typeface="+mj-ea"/>
              </a:rPr>
              <a:t>1</a:t>
            </a:r>
            <a:r>
              <a:rPr lang="zh-CN" altLang="en-US" sz="2800" b="1" spc="300" dirty="0">
                <a:solidFill>
                  <a:srgbClr val="003F88"/>
                </a:solidFill>
                <a:latin typeface="+mj-ea"/>
                <a:ea typeface="+mj-ea"/>
              </a:rPr>
              <a:t>：</a:t>
            </a:r>
            <a:r>
              <a:rPr lang="zh-CN" sz="2800" b="1" spc="300" dirty="0">
                <a:solidFill>
                  <a:srgbClr val="003F88"/>
                </a:solidFill>
                <a:latin typeface="+mj-ea"/>
                <a:ea typeface="+mj-ea"/>
              </a:rPr>
              <a:t>定点搬运</a:t>
            </a:r>
            <a:endParaRPr lang="zh-CN" sz="2800" b="1" spc="300" dirty="0">
              <a:solidFill>
                <a:srgbClr val="003F88"/>
              </a:solidFill>
              <a:latin typeface="+mj-ea"/>
              <a:ea typeface="+mj-ea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727970" y="1400145"/>
            <a:ext cx="2883535" cy="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8491697" y="3549493"/>
            <a:ext cx="50800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491697" y="7500144"/>
            <a:ext cx="50800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491697" y="9744233"/>
            <a:ext cx="5080000" cy="82994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zh-CN" sz="2400"/>
          </a:p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491697" y="11458415"/>
            <a:ext cx="50800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0" y="-8878"/>
            <a:ext cx="12192000" cy="638798"/>
            <a:chOff x="0" y="-8878"/>
            <a:chExt cx="12192000" cy="638798"/>
          </a:xfrm>
        </p:grpSpPr>
        <p:sp>
          <p:nvSpPr>
            <p:cNvPr id="5" name="矩形 4"/>
            <p:cNvSpPr/>
            <p:nvPr/>
          </p:nvSpPr>
          <p:spPr>
            <a:xfrm>
              <a:off x="0" y="-8878"/>
              <a:ext cx="12192000" cy="638798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artisticPhotocopy trans="30000" detail="2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394" y="73295"/>
              <a:ext cx="1687507" cy="468751"/>
            </a:xfrm>
            <a:prstGeom prst="rect">
              <a:avLst/>
            </a:prstGeom>
          </p:spPr>
        </p:pic>
        <p:grpSp>
          <p:nvGrpSpPr>
            <p:cNvPr id="7" name="组合 6"/>
            <p:cNvGrpSpPr/>
            <p:nvPr/>
          </p:nvGrpSpPr>
          <p:grpSpPr>
            <a:xfrm>
              <a:off x="5054722" y="89848"/>
              <a:ext cx="4662256" cy="425964"/>
              <a:chOff x="4953122" y="89848"/>
              <a:chExt cx="4662256" cy="425964"/>
            </a:xfrm>
          </p:grpSpPr>
          <p:cxnSp>
            <p:nvCxnSpPr>
              <p:cNvPr id="10" name="直接连接符 9"/>
              <p:cNvCxnSpPr/>
              <p:nvPr/>
            </p:nvCxnSpPr>
            <p:spPr>
              <a:xfrm>
                <a:off x="4953122" y="112761"/>
                <a:ext cx="0" cy="403051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253918" y="89848"/>
                <a:ext cx="0" cy="403051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>
                <a:off x="9615378" y="108054"/>
                <a:ext cx="0" cy="403051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60" name="文本框 59"/>
          <p:cNvSpPr txBox="1"/>
          <p:nvPr/>
        </p:nvSpPr>
        <p:spPr>
          <a:xfrm>
            <a:off x="5394753" y="89906"/>
            <a:ext cx="177750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sz="2400" b="1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chemeClr val="bg1">
                    <a:lumMod val="85000"/>
                  </a:schemeClr>
                </a:solidFill>
                <a:sym typeface="+mn-ea"/>
              </a:rPr>
              <a:t>实验介绍</a:t>
            </a:r>
            <a:endParaRPr lang="zh-CN" alt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7574179" y="90483"/>
            <a:ext cx="1955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  <a:sym typeface="+mn-ea"/>
              </a:rPr>
              <a:t>实验内容</a:t>
            </a:r>
            <a:endParaRPr lang="zh-CN" alt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9749054" y="89848"/>
            <a:ext cx="2335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dirty="0">
                <a:solidFill>
                  <a:schemeClr val="bg1">
                    <a:lumMod val="85000"/>
                  </a:schemeClr>
                </a:solidFill>
                <a:sym typeface="+mn-ea"/>
              </a:rPr>
              <a:t>注意事项</a:t>
            </a:r>
            <a:endParaRPr lang="zh-CN" alt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78155" y="1620520"/>
            <a:ext cx="11151235" cy="3114675"/>
          </a:xfrm>
          <a:prstGeom prst="rect">
            <a:avLst/>
          </a:prstGeom>
        </p:spPr>
        <p:txBody>
          <a:bodyPr wrap="square">
            <a:noAutofit/>
          </a:bodyPr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1、</a:t>
            </a:r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测试夹爪的打开与闭合，调整夹爪开合角度确保能稳固夹取物体。</a:t>
            </a:r>
            <a:endParaRPr lang="zh-CN" altLang="en-US" sz="20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2、</a:t>
            </a:r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坐标点标定</a:t>
            </a:r>
            <a:endParaRPr lang="zh-CN" altLang="en-US" sz="20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2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en-US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手动控制机械臂末端移动到</a:t>
            </a:r>
            <a:r>
              <a:rPr lang="en-US" altLang="zh-CN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点正上方（安全高度），记录此时坐标（</a:t>
            </a:r>
            <a:r>
              <a:rPr lang="en-US" altLang="zh-CN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x_A, y_A, z_safe</a:t>
            </a:r>
            <a:r>
              <a:rPr lang="zh-CN" altLang="en-US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）。</a:t>
            </a:r>
            <a:endParaRPr lang="zh-CN" altLang="en-US" sz="16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en-US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手动控制末端下降至刚好接触</a:t>
            </a:r>
            <a:r>
              <a:rPr lang="en-US" altLang="zh-CN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en-US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点物体（或台面），记录下降后的</a:t>
            </a:r>
            <a:r>
              <a:rPr lang="en-US" altLang="zh-CN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lang="zh-CN" altLang="en-US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坐标（</a:t>
            </a:r>
            <a:r>
              <a:rPr lang="en-US" altLang="zh-CN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z_A_grasp</a:t>
            </a:r>
            <a:r>
              <a:rPr lang="zh-CN" altLang="en-US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）。</a:t>
            </a:r>
            <a:endParaRPr lang="zh-CN" altLang="en-US" sz="16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en-US" altLang="zh-CN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en-US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同理，标定</a:t>
            </a:r>
            <a:r>
              <a:rPr lang="en-US" altLang="zh-CN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lang="zh-CN" altLang="en-US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点的坐标（</a:t>
            </a:r>
            <a:r>
              <a:rPr lang="en-US" altLang="zh-CN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x_B, y_B, z_safe</a:t>
            </a:r>
            <a:r>
              <a:rPr lang="zh-CN" altLang="en-US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）和放置高度（</a:t>
            </a:r>
            <a:r>
              <a:rPr lang="en-US" altLang="zh-CN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z_B_place</a:t>
            </a:r>
            <a:r>
              <a:rPr lang="zh-CN" altLang="en-US" sz="16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）。</a:t>
            </a:r>
            <a:endParaRPr lang="zh-CN" altLang="en-US" sz="16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  <a:sym typeface="+mn-ea"/>
              </a:rPr>
              <a:t>3、</a:t>
            </a:r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编写搬运程序、调试与优化</a:t>
            </a:r>
            <a:endParaRPr lang="zh-CN" altLang="en-US" sz="20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>
                <a:solidFill>
                  <a:srgbClr val="0070C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4、</a:t>
            </a:r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尝试通过</a:t>
            </a:r>
            <a:r>
              <a:rPr lang="zh-CN" altLang="en-US" sz="2000">
                <a:solidFill>
                  <a:schemeClr val="accent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调整运动速度或加减速参数</a:t>
            </a:r>
            <a:r>
              <a:rPr lang="zh-CN" altLang="en-US" sz="200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，优化搬运效率。</a:t>
            </a:r>
            <a:endParaRPr lang="zh-CN" altLang="en-US" sz="20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0" indent="304800" algn="l" defTabSz="266700" fontAlgn="b">
              <a:lnSpc>
                <a:spcPct val="130000"/>
              </a:lnSpc>
              <a:buClrTx/>
              <a:buSzTx/>
              <a:buFontTx/>
            </a:pPr>
            <a:endParaRPr lang="zh-CN" altLang="en-US" sz="200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3"/>
            </p:custDataLst>
          </p:nvPr>
        </p:nvGraphicFramePr>
        <p:xfrm>
          <a:off x="1584325" y="4955540"/>
          <a:ext cx="7364730" cy="1295400"/>
        </p:xfrm>
        <a:graphic>
          <a:graphicData uri="http://schemas.openxmlformats.org/drawingml/2006/table">
            <a:tbl>
              <a:tblPr/>
              <a:tblGrid>
                <a:gridCol w="1652905"/>
                <a:gridCol w="5711825"/>
              </a:tblGrid>
              <a:tr h="247650">
                <a:tc>
                  <a:txBody>
                    <a:bodyPr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评价项目</a:t>
                      </a:r>
                      <a:endParaRPr 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76200" marT="47625" marB="476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6858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评分要点</a:t>
                      </a:r>
                      <a:endParaRPr 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0" marR="76200" marT="47625" marB="476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p>
                      <a:pPr marL="6858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Times New Roman" panose="02020603050405020304"/>
                        </a:rPr>
                        <a:t>1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. 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程序实现</a:t>
                      </a:r>
                      <a:endParaRPr 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76200" marT="47625" marB="476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- 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程序结构清晰，包含完整的搬运流程</a:t>
                      </a:r>
                      <a:endParaRPr 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  <a:p>
                      <a:pPr marL="6858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- 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夹爪控制正确</a:t>
                      </a:r>
                      <a:endParaRPr 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0" marR="76200" marT="47625" marB="476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7650">
                <a:tc>
                  <a:txBody>
                    <a:bodyPr/>
                    <a:p>
                      <a:pPr marL="6858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Times New Roman" panose="02020603050405020304"/>
                        </a:rPr>
                        <a:t>2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. 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搬运成功率</a:t>
                      </a:r>
                      <a:endParaRPr 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76200" marT="47625" marB="476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- 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连续测试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5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次，全部成功</a:t>
                      </a:r>
                      <a:endParaRPr 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0" marR="76200" marT="47625" marB="476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p>
                      <a:pPr marL="6858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Times New Roman" panose="02020603050405020304"/>
                        </a:rPr>
                        <a:t>3</a:t>
                      </a: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. 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运动平稳性</a:t>
                      </a:r>
                      <a:endParaRPr 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0" marR="76200" marT="47625" marB="476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 marL="6858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- 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运动无明显抖动、停顿或异常振动</a:t>
                      </a:r>
                      <a:br>
                        <a:rPr lang="zh-CN" altLang="en-US" sz="1400">
                          <a:latin typeface="Times New Roman" panose="02020603050405020304"/>
                          <a:ea typeface="宋体" panose="02010600030101010101" pitchFamily="2" charset="-122"/>
                        </a:rPr>
                      </a:br>
                      <a:r>
                        <a:rPr lang="en-US" altLang="zh-CN" sz="1400">
                          <a:latin typeface="Times New Roman" panose="02020603050405020304"/>
                          <a:ea typeface="宋体" panose="02010600030101010101" pitchFamily="2" charset="-122"/>
                        </a:rPr>
                        <a:t>- </a:t>
                      </a:r>
                      <a:r>
                        <a:rPr lang="zh-CN" sz="140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速度选择合理，无危险动作</a:t>
                      </a:r>
                      <a:endParaRPr lang="zh-CN" sz="1400"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L="76200" marR="76200" marT="47625" marB="47625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187112" y="824166"/>
            <a:ext cx="6572251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>
              <a:buFont typeface="Wingdings" panose="05000000000000000000" pitchFamily="2" charset="2"/>
              <a:buNone/>
            </a:pPr>
            <a:r>
              <a:rPr lang="zh-CN" sz="2800" b="1" spc="300" dirty="0">
                <a:solidFill>
                  <a:srgbClr val="003F88"/>
                </a:solidFill>
                <a:latin typeface="+mj-ea"/>
                <a:ea typeface="+mj-ea"/>
              </a:rPr>
              <a:t>注意事项</a:t>
            </a:r>
            <a:endParaRPr lang="zh-CN" sz="2800" b="1" spc="300" dirty="0">
              <a:solidFill>
                <a:srgbClr val="003F88"/>
              </a:solidFill>
              <a:latin typeface="+mj-ea"/>
              <a:ea typeface="+mj-ea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727970" y="1400145"/>
            <a:ext cx="1933575" cy="1270"/>
          </a:xfrm>
          <a:prstGeom prst="line">
            <a:avLst/>
          </a:prstGeom>
          <a:ln w="285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8491697" y="3549493"/>
            <a:ext cx="50800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8491697" y="7500144"/>
            <a:ext cx="50800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491697" y="9744233"/>
            <a:ext cx="5080000" cy="829945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altLang="zh-CN" sz="2400"/>
          </a:p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491697" y="11458415"/>
            <a:ext cx="5080000" cy="4603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indent="0" algn="ctr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 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0" y="-8878"/>
            <a:ext cx="12192000" cy="638798"/>
            <a:chOff x="0" y="-8878"/>
            <a:chExt cx="12192000" cy="638798"/>
          </a:xfrm>
        </p:grpSpPr>
        <p:sp>
          <p:nvSpPr>
            <p:cNvPr id="5" name="矩形 4"/>
            <p:cNvSpPr/>
            <p:nvPr/>
          </p:nvSpPr>
          <p:spPr>
            <a:xfrm>
              <a:off x="0" y="-8878"/>
              <a:ext cx="12192000" cy="638798"/>
            </a:xfrm>
            <a:prstGeom prst="rect">
              <a:avLst/>
            </a:prstGeom>
            <a:solidFill>
              <a:srgbClr val="003F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1"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artisticPhotocopy trans="30000" detail="2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1394" y="73295"/>
              <a:ext cx="1687507" cy="468751"/>
            </a:xfrm>
            <a:prstGeom prst="rect">
              <a:avLst/>
            </a:prstGeom>
          </p:spPr>
        </p:pic>
        <p:grpSp>
          <p:nvGrpSpPr>
            <p:cNvPr id="7" name="组合 6"/>
            <p:cNvGrpSpPr/>
            <p:nvPr/>
          </p:nvGrpSpPr>
          <p:grpSpPr>
            <a:xfrm>
              <a:off x="5054722" y="89848"/>
              <a:ext cx="4662256" cy="425964"/>
              <a:chOff x="4953122" y="89848"/>
              <a:chExt cx="4662256" cy="425964"/>
            </a:xfrm>
          </p:grpSpPr>
          <p:cxnSp>
            <p:nvCxnSpPr>
              <p:cNvPr id="10" name="直接连接符 9"/>
              <p:cNvCxnSpPr/>
              <p:nvPr/>
            </p:nvCxnSpPr>
            <p:spPr>
              <a:xfrm>
                <a:off x="4953122" y="112761"/>
                <a:ext cx="0" cy="403051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7253918" y="89848"/>
                <a:ext cx="0" cy="403051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>
                <a:off x="9615378" y="108054"/>
                <a:ext cx="0" cy="403051"/>
              </a:xfrm>
              <a:prstGeom prst="line">
                <a:avLst/>
              </a:prstGeom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</p:cxnSp>
        </p:grpSp>
      </p:grpSp>
      <p:sp>
        <p:nvSpPr>
          <p:cNvPr id="15" name="文本框 14"/>
          <p:cNvSpPr txBox="1"/>
          <p:nvPr/>
        </p:nvSpPr>
        <p:spPr>
          <a:xfrm>
            <a:off x="727710" y="1772285"/>
            <a:ext cx="924306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/>
              <a:t>1</a:t>
            </a:r>
            <a:r>
              <a:rPr lang="zh-CN" altLang="en-US" sz="2000"/>
              <a:t>．若夹取失败，调整夹爪开合角度或运动速度，</a:t>
            </a:r>
            <a:r>
              <a:rPr lang="zh-CN" altLang="en-US" sz="2000">
                <a:sym typeface="+mn-ea"/>
              </a:rPr>
              <a:t>夹爪闭合力度不宜过大，防止损坏物体或夹爪。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en-US" altLang="zh-CN" sz="2000"/>
              <a:t>2.  </a:t>
            </a:r>
            <a:r>
              <a:rPr lang="zh-CN" altLang="en-US" sz="2000"/>
              <a:t>若放置位置偏差大，重新标定坐标点。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en-US" altLang="zh-CN" sz="2000"/>
              <a:t>3</a:t>
            </a:r>
            <a:r>
              <a:rPr lang="zh-CN" altLang="en-US" sz="2000"/>
              <a:t>．机械臂运动范围内严禁放置障碍物，实验过程中勿将手或物品伸入工作区域。</a:t>
            </a:r>
            <a:endParaRPr lang="zh-CN" altLang="en-US" sz="2000"/>
          </a:p>
          <a:p>
            <a:pPr>
              <a:lnSpc>
                <a:spcPct val="150000"/>
              </a:lnSpc>
            </a:pPr>
            <a:r>
              <a:rPr lang="en-US" altLang="zh-CN" sz="2000"/>
              <a:t>4</a:t>
            </a:r>
            <a:r>
              <a:rPr lang="zh-CN" altLang="en-US" sz="2000"/>
              <a:t>．首次运行时将速度调低，观察运动轨迹是否正确后再逐步提高速度。</a:t>
            </a:r>
            <a:endParaRPr lang="en-US" altLang="zh-CN" sz="2000"/>
          </a:p>
          <a:p>
            <a:pPr>
              <a:lnSpc>
                <a:spcPct val="150000"/>
              </a:lnSpc>
            </a:pPr>
            <a:endParaRPr lang="en-US" altLang="zh-CN" sz="2000"/>
          </a:p>
        </p:txBody>
      </p:sp>
      <p:sp>
        <p:nvSpPr>
          <p:cNvPr id="3" name="文本框 2"/>
          <p:cNvSpPr txBox="1"/>
          <p:nvPr/>
        </p:nvSpPr>
        <p:spPr>
          <a:xfrm>
            <a:off x="5394753" y="89906"/>
            <a:ext cx="177750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sz="2400" b="1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chemeClr val="bg1">
                    <a:lumMod val="85000"/>
                  </a:schemeClr>
                </a:solidFill>
                <a:sym typeface="+mn-ea"/>
              </a:rPr>
              <a:t>实验介绍</a:t>
            </a:r>
            <a:endParaRPr lang="zh-CN" alt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574179" y="90483"/>
            <a:ext cx="195580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+mn-ea"/>
                <a:cs typeface="Times New Roman" panose="02020603050405020304" pitchFamily="18" charset="0"/>
                <a:sym typeface="+mn-ea"/>
              </a:rPr>
              <a:t>实验内容</a:t>
            </a:r>
            <a:endParaRPr lang="zh-CN" alt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9749054" y="89848"/>
            <a:ext cx="233553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dirty="0">
                <a:solidFill>
                  <a:schemeClr val="bg1">
                    <a:lumMod val="85000"/>
                  </a:schemeClr>
                </a:solidFill>
                <a:sym typeface="+mn-ea"/>
              </a:rPr>
              <a:t>注意事项</a:t>
            </a:r>
            <a:endParaRPr lang="zh-CN" altLang="en-US" sz="24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TABLE_ENDDRAG_ORIGIN_RECT" val="579*101"/>
  <p:tag name="TABLE_ENDDRAG_RECT" val="46*389*579*101"/>
</p:tagLst>
</file>

<file path=ppt/tags/tag2.xml><?xml version="1.0" encoding="utf-8"?>
<p:tagLst xmlns:p="http://schemas.openxmlformats.org/presentationml/2006/main">
  <p:tag name="COMMONDATA" val="eyJoZGlkIjoiN2YzNjBkOTgyNWQ1YTMxYzM3MzMwNWFiODNmOWIzYWMifQ=="/>
  <p:tag name="RESOURCE_RECORD_KEY" val="{&quot;13&quot;:[4364974],&quot;70&quot;:[3328078,3314404]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523</Words>
  <Application>WPS 演示</Application>
  <PresentationFormat>宽屏</PresentationFormat>
  <Paragraphs>68</Paragraphs>
  <Slides>3</Slides>
  <Notes>14</Notes>
  <HiddenSlides>0</HiddenSlides>
  <MMClips>1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25" baseType="lpstr">
      <vt:lpstr>Arial</vt:lpstr>
      <vt:lpstr>宋体</vt:lpstr>
      <vt:lpstr>Wingdings</vt:lpstr>
      <vt:lpstr>黑体</vt:lpstr>
      <vt:lpstr>汉仪润圆-45简</vt:lpstr>
      <vt:lpstr>Times New Roman</vt:lpstr>
      <vt:lpstr>Cambria</vt:lpstr>
      <vt:lpstr>Arial</vt:lpstr>
      <vt:lpstr>微软雅黑</vt:lpstr>
      <vt:lpstr>Wingdings</vt:lpstr>
      <vt:lpstr>Wingdings</vt:lpstr>
      <vt:lpstr>Times New Roman</vt:lpstr>
      <vt:lpstr>仿宋_GB2312</vt:lpstr>
      <vt:lpstr>Arial Unicode MS</vt:lpstr>
      <vt:lpstr>Noto Sans SC</vt:lpstr>
      <vt:lpstr>等线 Light</vt:lpstr>
      <vt:lpstr>等线</vt:lpstr>
      <vt:lpstr>Calibri</vt:lpstr>
      <vt:lpstr>汉仪润圆-45简</vt:lpstr>
      <vt:lpstr>Segoe Print</vt:lpstr>
      <vt:lpstr>汉仪润圆-65简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</dc:creator>
  <cp:lastModifiedBy>李宏娟</cp:lastModifiedBy>
  <cp:revision>443</cp:revision>
  <dcterms:created xsi:type="dcterms:W3CDTF">2024-06-04T23:12:00Z</dcterms:created>
  <dcterms:modified xsi:type="dcterms:W3CDTF">2026-03-27T02:22:39Z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8444102F69CF4DED9B390CC08BDD6C0E_13</vt:lpwstr>
  </property>
  <property fmtid="{D5CDD505-2E9C-101B-9397-08002B2CF9AE}" pid="3" name="KSOProductBuildVer">
    <vt:lpwstr>2052-12.1.0.25225</vt:lpwstr>
  </property>
</Properties>
</file>